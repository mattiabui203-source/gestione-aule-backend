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436" r:id="rId5"/>
    <p:sldId id="437" r:id="rId6"/>
    <p:sldId id="438" r:id="rId7"/>
    <p:sldId id="439" r:id="rId8"/>
    <p:sldId id="440" r:id="rId9"/>
    <p:sldId id="441" r:id="rId10"/>
    <p:sldId id="442" r:id="rId11"/>
    <p:sldId id="443" r:id="rId12"/>
    <p:sldId id="444" r:id="rId13"/>
    <p:sldId id="435" r:id="rId14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7" autoAdjust="0"/>
    <p:restoredTop sz="95394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34EB9BE0-2C65-4B4B-BFBF-7BC606369884}" type="datetime1">
              <a:rPr lang="it-IT" smtClean="0"/>
              <a:t>04/05/2026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509210F9-8331-407C-A034-F95DCB303EB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C5F75B8F-9AF6-4E7E-BFF3-0E1B58A2C02E}" type="datetime1">
              <a:rPr lang="it-IT" smtClean="0"/>
              <a:t>04/05/2026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32BF9438-3EEF-4192-9815-F6F44770AEF7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32BF9438-3EEF-4192-9815-F6F44770AEF7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32BF9438-3EEF-4192-9815-F6F44770AEF7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32BF9438-3EEF-4192-9815-F6F44770AEF7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1957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32BF9438-3EEF-4192-9815-F6F44770AEF7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209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32BF9438-3EEF-4192-9815-F6F44770AEF7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32BF9438-3EEF-4192-9815-F6F44770AEF7}" type="slidenum">
              <a:rPr lang="it-IT" smtClean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302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32BF9438-3EEF-4192-9815-F6F44770AEF7}" type="slidenum">
              <a:rPr lang="it-IT" smtClean="0"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75002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32BF9438-3EEF-4192-9815-F6F44770AEF7}" type="slidenum">
              <a:rPr lang="it-IT" smtClean="0"/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89266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32BF9438-3EEF-4192-9815-F6F44770AEF7}" type="slidenum">
              <a:rPr lang="it-IT" smtClean="0"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82412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32BF9438-3EEF-4192-9815-F6F44770AEF7}" type="slidenum">
              <a:rPr lang="it-IT" smtClean="0"/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8446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 rtlCol="0"/>
          <a:lstStyle>
            <a:lvl1pPr algn="ctr">
              <a:defRPr lang="it-IT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6" name="Figura a mano libera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7" name="Figura a mano libera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0944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rmazioni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4" name="Figura a mano libera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5" name="Figura a mano libera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6" name="Figura a mano libera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8" name="Titolo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 rtlCol="0">
            <a:normAutofit/>
          </a:bodyPr>
          <a:lstStyle>
            <a:lvl1pPr>
              <a:defRPr lang="it-IT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20" name="Segnaposto contenuto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rtlCol="0" anchor="ctr">
            <a:normAutofit/>
          </a:bodyPr>
          <a:lstStyle>
            <a:lvl1pPr marL="0" indent="0">
              <a:buNone/>
              <a:defRPr lang="it-IT" sz="1800"/>
            </a:lvl1pPr>
            <a:lvl2pPr marL="457200" indent="0">
              <a:buNone/>
              <a:defRPr lang="it-IT" sz="1600"/>
            </a:lvl2pPr>
            <a:lvl3pPr marL="914400" indent="0">
              <a:buNone/>
              <a:defRPr lang="it-IT" sz="1400"/>
            </a:lvl3pPr>
            <a:lvl4pPr marL="1371600" indent="0">
              <a:buNone/>
              <a:defRPr lang="it-IT" sz="1200"/>
            </a:lvl4pPr>
            <a:lvl5pPr marL="1828800" indent="0">
              <a:buNone/>
              <a:defRPr lang="it-IT" sz="1200"/>
            </a:lvl5pPr>
          </a:lstStyle>
          <a:p>
            <a:pPr lvl="0" rtl="0"/>
            <a:r>
              <a:rPr lang="it-IT"/>
              <a:t>Fai clic per aggiungere contenuti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5376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sezio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a a mano libera: Forma 9">
            <a:extLst>
              <a:ext uri="{FF2B5EF4-FFF2-40B4-BE49-F238E27FC236}">
                <a16:creationId xmlns:a16="http://schemas.microsoft.com/office/drawing/2014/main" id="{A18D9F31-445F-F144-A393-66C1BDE80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57002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5" name="Figura a mano libera 14">
            <a:extLst>
              <a:ext uri="{FF2B5EF4-FFF2-40B4-BE49-F238E27FC236}">
                <a16:creationId xmlns:a16="http://schemas.microsoft.com/office/drawing/2014/main" id="{24F2F994-08EA-D901-82B7-02E175B2F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8" name="Titolo 7">
            <a:extLst>
              <a:ext uri="{FF2B5EF4-FFF2-40B4-BE49-F238E27FC236}">
                <a16:creationId xmlns:a16="http://schemas.microsoft.com/office/drawing/2014/main" id="{863EE949-1BE5-CFA7-69CC-5235FFE07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1415562"/>
            <a:ext cx="5750171" cy="4009292"/>
          </a:xfrm>
        </p:spPr>
        <p:txBody>
          <a:bodyPr rtlCol="0">
            <a:normAutofit/>
          </a:bodyPr>
          <a:lstStyle>
            <a:lvl1pPr>
              <a:defRPr lang="it-IT" sz="3600">
                <a:solidFill>
                  <a:schemeClr val="bg2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4" name="Segnaposto immagine 18">
            <a:extLst>
              <a:ext uri="{FF2B5EF4-FFF2-40B4-BE49-F238E27FC236}">
                <a16:creationId xmlns:a16="http://schemas.microsoft.com/office/drawing/2014/main" id="{A2B2C17F-12DD-A683-5602-F16A1C9647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7908" y="1"/>
            <a:ext cx="4314092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1463040" tIns="822960" rIns="1463040" rtlCol="0" anchor="t" anchorCtr="0">
            <a:noAutofit/>
          </a:bodyPr>
          <a:lstStyle>
            <a:lvl1pPr marL="0" indent="0" algn="ctr">
              <a:buNone/>
              <a:defRPr lang="it-IT" sz="1600">
                <a:solidFill>
                  <a:schemeClr val="bg2"/>
                </a:solidFill>
              </a:defRPr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045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, contenuto e immag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C179D789-F69C-8306-0C19-DF73E6916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6415" y="360485"/>
            <a:ext cx="5032725" cy="3284203"/>
          </a:xfrm>
        </p:spPr>
        <p:txBody>
          <a:bodyPr rtlCol="0" anchor="b">
            <a:normAutofit/>
          </a:bodyPr>
          <a:lstStyle>
            <a:lvl1pPr>
              <a:defRPr lang="it-IT" sz="3600">
                <a:solidFill>
                  <a:schemeClr val="bg2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2" name="Segnaposto immagine 1">
            <a:extLst>
              <a:ext uri="{FF2B5EF4-FFF2-40B4-BE49-F238E27FC236}">
                <a16:creationId xmlns:a16="http://schemas.microsoft.com/office/drawing/2014/main" id="{A2003524-9DE3-1117-2E91-80A1CB96DE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308475" cy="6858000"/>
          </a:xfrm>
          <a:custGeom>
            <a:avLst/>
            <a:gdLst>
              <a:gd name="connsiteX0" fmla="*/ 0 w 4308475"/>
              <a:gd name="connsiteY0" fmla="*/ 0 h 6858000"/>
              <a:gd name="connsiteX1" fmla="*/ 4308475 w 4308475"/>
              <a:gd name="connsiteY1" fmla="*/ 0 h 6858000"/>
              <a:gd name="connsiteX2" fmla="*/ 4308475 w 4308475"/>
              <a:gd name="connsiteY2" fmla="*/ 3390898 h 6858000"/>
              <a:gd name="connsiteX3" fmla="*/ 4307536 w 4308475"/>
              <a:gd name="connsiteY3" fmla="*/ 3390898 h 6858000"/>
              <a:gd name="connsiteX4" fmla="*/ 4290702 w 4308475"/>
              <a:gd name="connsiteY4" fmla="*/ 3724279 h 6858000"/>
              <a:gd name="connsiteX5" fmla="*/ 1146183 w 4308475"/>
              <a:gd name="connsiteY5" fmla="*/ 6848898 h 6858000"/>
              <a:gd name="connsiteX6" fmla="*/ 953984 w 4308475"/>
              <a:gd name="connsiteY6" fmla="*/ 6857998 h 6858000"/>
              <a:gd name="connsiteX7" fmla="*/ 4308475 w 4308475"/>
              <a:gd name="connsiteY7" fmla="*/ 6857998 h 6858000"/>
              <a:gd name="connsiteX8" fmla="*/ 4308475 w 4308475"/>
              <a:gd name="connsiteY8" fmla="*/ 6858000 h 6858000"/>
              <a:gd name="connsiteX9" fmla="*/ 0 w 43084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8475" h="6858000">
                <a:moveTo>
                  <a:pt x="0" y="0"/>
                </a:moveTo>
                <a:lnTo>
                  <a:pt x="4308475" y="0"/>
                </a:lnTo>
                <a:lnTo>
                  <a:pt x="4308475" y="3390898"/>
                </a:lnTo>
                <a:lnTo>
                  <a:pt x="4307536" y="3390898"/>
                </a:lnTo>
                <a:lnTo>
                  <a:pt x="4290702" y="3724279"/>
                </a:lnTo>
                <a:cubicBezTo>
                  <a:pt x="4122756" y="5378008"/>
                  <a:pt x="2802922" y="6691208"/>
                  <a:pt x="1146183" y="6848898"/>
                </a:cubicBezTo>
                <a:lnTo>
                  <a:pt x="953984" y="6857998"/>
                </a:lnTo>
                <a:lnTo>
                  <a:pt x="4308475" y="6857998"/>
                </a:lnTo>
                <a:lnTo>
                  <a:pt x="43084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it-IT">
                <a:solidFill>
                  <a:schemeClr val="bg2"/>
                </a:solidFill>
              </a:defRPr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FE5C55B8-DD4C-A859-38F5-CC8FE0920B8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76306" y="3846391"/>
            <a:ext cx="5032725" cy="2136710"/>
          </a:xfrm>
        </p:spPr>
        <p:txBody>
          <a:bodyPr rtlCol="0">
            <a:normAutofit/>
          </a:bodyPr>
          <a:lstStyle>
            <a:lvl1pPr marL="0" indent="0">
              <a:buNone/>
              <a:defRPr lang="it-IT" sz="1800">
                <a:solidFill>
                  <a:schemeClr val="bg2"/>
                </a:solidFill>
              </a:defRPr>
            </a:lvl1pPr>
            <a:lvl2pPr marL="457200" indent="0">
              <a:buNone/>
              <a:defRPr lang="it-IT" sz="1600">
                <a:solidFill>
                  <a:schemeClr val="bg2"/>
                </a:solidFill>
              </a:defRPr>
            </a:lvl2pPr>
            <a:lvl3pPr marL="914400" indent="0">
              <a:buNone/>
              <a:defRPr lang="it-IT" sz="1400">
                <a:solidFill>
                  <a:schemeClr val="bg2"/>
                </a:solidFill>
              </a:defRPr>
            </a:lvl3pPr>
            <a:lvl4pPr marL="1371600" indent="0">
              <a:buNone/>
              <a:defRPr lang="it-IT" sz="1200">
                <a:solidFill>
                  <a:schemeClr val="bg2"/>
                </a:solidFill>
              </a:defRPr>
            </a:lvl4pPr>
            <a:lvl5pPr marL="1828800" indent="0">
              <a:buNone/>
              <a:defRPr lang="it-IT" sz="12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7" name="Figura a mano libera: Forma 9">
            <a:extLst>
              <a:ext uri="{FF2B5EF4-FFF2-40B4-BE49-F238E27FC236}">
                <a16:creationId xmlns:a16="http://schemas.microsoft.com/office/drawing/2014/main" id="{6DC123BA-30A1-50DE-FC24-33C67A8FA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430876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2230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7" name="Figura a mano libera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8" name="Figura a mano libera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 rtlCol="0">
            <a:normAutofit/>
          </a:bodyPr>
          <a:lstStyle>
            <a:lvl1pPr>
              <a:defRPr lang="it-IT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2" name="Segnaposto contenuto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/>
            </a:lvl5pPr>
          </a:lstStyle>
          <a:p>
            <a:pPr lvl="0" rtl="0"/>
            <a:r>
              <a:rPr lang="it-IT"/>
              <a:t>Fai clic per aggiungere contenuti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65884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B16B6590-E6B3-B91C-752E-88256804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6" name="Figura a mano libera 26">
            <a:extLst>
              <a:ext uri="{FF2B5EF4-FFF2-40B4-BE49-F238E27FC236}">
                <a16:creationId xmlns:a16="http://schemas.microsoft.com/office/drawing/2014/main" id="{3A11B3D3-2DE9-50B1-D34F-653D46693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1493" y="365768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7" name="Figura a mano libera 27">
            <a:extLst>
              <a:ext uri="{FF2B5EF4-FFF2-40B4-BE49-F238E27FC236}">
                <a16:creationId xmlns:a16="http://schemas.microsoft.com/office/drawing/2014/main" id="{5EEBEB28-1DE8-01FC-1208-CE71F445D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8" name="Figura a mano libera 31">
            <a:extLst>
              <a:ext uri="{FF2B5EF4-FFF2-40B4-BE49-F238E27FC236}">
                <a16:creationId xmlns:a16="http://schemas.microsoft.com/office/drawing/2014/main" id="{836BB78A-11DB-CCF3-7F2E-C0243B409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9" name="Titolo 8">
            <a:extLst>
              <a:ext uri="{FF2B5EF4-FFF2-40B4-BE49-F238E27FC236}">
                <a16:creationId xmlns:a16="http://schemas.microsoft.com/office/drawing/2014/main" id="{00220F55-A7D0-A330-0E21-94E0D5EC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0734" y="835269"/>
            <a:ext cx="8690533" cy="2821183"/>
          </a:xfrm>
        </p:spPr>
        <p:txBody>
          <a:bodyPr rtlCol="0" anchor="b">
            <a:normAutofit/>
          </a:bodyPr>
          <a:lstStyle>
            <a:lvl1pPr algn="ctr">
              <a:defRPr lang="it-IT" sz="3600">
                <a:solidFill>
                  <a:schemeClr val="bg2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560B5AC1-38AD-9D8D-25F1-F8E10DE48AD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45739" y="3858233"/>
            <a:ext cx="8700522" cy="1953481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1800">
                <a:solidFill>
                  <a:schemeClr val="bg2"/>
                </a:solidFill>
              </a:defRPr>
            </a:lvl1pPr>
            <a:lvl2pPr marL="457200" indent="0" algn="ctr">
              <a:buNone/>
              <a:defRPr lang="it-IT" sz="1600">
                <a:solidFill>
                  <a:schemeClr val="bg2"/>
                </a:solidFill>
              </a:defRPr>
            </a:lvl2pPr>
            <a:lvl3pPr marL="914400" indent="0" algn="ctr">
              <a:buNone/>
              <a:defRPr lang="it-IT" sz="1400">
                <a:solidFill>
                  <a:schemeClr val="bg2"/>
                </a:solidFill>
              </a:defRPr>
            </a:lvl3pPr>
            <a:lvl4pPr marL="1371600" indent="0" algn="ctr">
              <a:buNone/>
              <a:defRPr lang="it-IT" sz="1200">
                <a:solidFill>
                  <a:schemeClr val="bg2"/>
                </a:solidFill>
              </a:defRPr>
            </a:lvl4pPr>
            <a:lvl5pPr marL="1828800" indent="0" algn="ctr">
              <a:buNone/>
              <a:defRPr lang="it-IT" sz="12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6246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e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6" name="Figura a mano libera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7" name="Figura a mano libera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9" name="Titolo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 rtlCol="0">
            <a:normAutofit/>
          </a:bodyPr>
          <a:lstStyle>
            <a:lvl1pPr>
              <a:defRPr lang="it-IT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21" name="Segnaposto contenuto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/>
            </a:lvl5pPr>
          </a:lstStyle>
          <a:p>
            <a:pPr lvl="0" rtl="0"/>
            <a:r>
              <a:rPr lang="it-IT"/>
              <a:t>Fai clic per aggiungere contenuti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22" name="Segnaposto contenuto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/>
            </a:lvl5pPr>
          </a:lstStyle>
          <a:p>
            <a:pPr lvl="0" rtl="0"/>
            <a:r>
              <a:rPr lang="it-IT"/>
              <a:t>Fai clic per aggiungere contenuti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07817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e 2 colon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a a mano libera 36">
            <a:extLst>
              <a:ext uri="{FF2B5EF4-FFF2-40B4-BE49-F238E27FC236}">
                <a16:creationId xmlns:a16="http://schemas.microsoft.com/office/drawing/2014/main" id="{F8F589DA-127F-E2E7-6ADA-1D3C04799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5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700FBF0-749D-0FF0-74B6-3565174C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9" name="Figura a mano libera 10">
            <a:extLst>
              <a:ext uri="{FF2B5EF4-FFF2-40B4-BE49-F238E27FC236}">
                <a16:creationId xmlns:a16="http://schemas.microsoft.com/office/drawing/2014/main" id="{0DDA3FAB-74FF-4772-2BA4-B242E12AB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2" name="Titolo 11">
            <a:extLst>
              <a:ext uri="{FF2B5EF4-FFF2-40B4-BE49-F238E27FC236}">
                <a16:creationId xmlns:a16="http://schemas.microsoft.com/office/drawing/2014/main" id="{FBE95B3E-84B8-3910-65C9-87914802B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369277"/>
            <a:ext cx="9590215" cy="1708514"/>
          </a:xfrm>
        </p:spPr>
        <p:txBody>
          <a:bodyPr rtlCol="0">
            <a:normAutofit/>
          </a:bodyPr>
          <a:lstStyle>
            <a:lvl1pPr>
              <a:defRPr lang="it-IT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3" name="Segnaposto contenuto 20">
            <a:extLst>
              <a:ext uri="{FF2B5EF4-FFF2-40B4-BE49-F238E27FC236}">
                <a16:creationId xmlns:a16="http://schemas.microsoft.com/office/drawing/2014/main" id="{90BA2746-C141-C524-CDDE-DD672A80A2C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3"/>
            <a:ext cx="3347782" cy="3436653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800" b="1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600" b="1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400" b="1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 b="1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 b="1"/>
            </a:lvl5pPr>
          </a:lstStyle>
          <a:p>
            <a:pPr lvl="0" rtl="0"/>
            <a:r>
              <a:rPr lang="it-IT"/>
              <a:t>Fai clic per aggiungere contenuti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4" name="Segnaposto contenuto 20">
            <a:extLst>
              <a:ext uri="{FF2B5EF4-FFF2-40B4-BE49-F238E27FC236}">
                <a16:creationId xmlns:a16="http://schemas.microsoft.com/office/drawing/2014/main" id="{53421E6F-1A11-40B7-DB53-FC96CE9D787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925269" y="2274033"/>
            <a:ext cx="6036544" cy="3436653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/>
            </a:lvl5pPr>
          </a:lstStyle>
          <a:p>
            <a:pPr lvl="0" rtl="0"/>
            <a:r>
              <a:rPr lang="it-IT"/>
              <a:t>Fai clic per aggiungere contenuti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1" name="Segnaposto numero diapositiva 5">
            <a:extLst>
              <a:ext uri="{FF2B5EF4-FFF2-40B4-BE49-F238E27FC236}">
                <a16:creationId xmlns:a16="http://schemas.microsoft.com/office/drawing/2014/main" id="{078CC75E-2849-6C28-42BF-61EBFD22C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9508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uto titolo e immag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igura a mano libera: Forma 8">
            <a:extLst>
              <a:ext uri="{FF2B5EF4-FFF2-40B4-BE49-F238E27FC236}">
                <a16:creationId xmlns:a16="http://schemas.microsoft.com/office/drawing/2014/main" id="{D8A19A74-FE0D-4975-5657-5362CEB4D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6117263" y="5090690"/>
            <a:ext cx="1807536" cy="17770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8E8CCA9-A930-4217-FC4B-419AD08ED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6913" y="2996911"/>
            <a:ext cx="6867747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8" name="Figura a mano libera 25">
            <a:extLst>
              <a:ext uri="{FF2B5EF4-FFF2-40B4-BE49-F238E27FC236}">
                <a16:creationId xmlns:a16="http://schemas.microsoft.com/office/drawing/2014/main" id="{A5202170-963D-8D6D-EF61-11B291827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3" name="Titolo 12">
            <a:extLst>
              <a:ext uri="{FF2B5EF4-FFF2-40B4-BE49-F238E27FC236}">
                <a16:creationId xmlns:a16="http://schemas.microsoft.com/office/drawing/2014/main" id="{6A71B5EB-558B-B072-1FF1-CDA55B10C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57" y="328860"/>
            <a:ext cx="6136643" cy="1777060"/>
          </a:xfrm>
        </p:spPr>
        <p:txBody>
          <a:bodyPr rtlCol="0">
            <a:normAutofit/>
          </a:bodyPr>
          <a:lstStyle>
            <a:lvl1pPr>
              <a:defRPr lang="it-IT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4" name="Segnaposto contenuto 20">
            <a:extLst>
              <a:ext uri="{FF2B5EF4-FFF2-40B4-BE49-F238E27FC236}">
                <a16:creationId xmlns:a16="http://schemas.microsoft.com/office/drawing/2014/main" id="{B84F4814-519C-86D2-1886-90E0A98968D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71204" y="2282999"/>
            <a:ext cx="6136643" cy="368550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/>
            </a:lvl5pPr>
          </a:lstStyle>
          <a:p>
            <a:pPr lvl="0" rtl="0"/>
            <a:r>
              <a:rPr lang="it-IT"/>
              <a:t>Fai clic per aggiungere contenuti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55A36A3E-F1BF-A2FC-E9BF-616718E65B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24800" y="0"/>
            <a:ext cx="4267200" cy="6858000"/>
          </a:xfr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it-IT">
                <a:solidFill>
                  <a:schemeClr val="bg2"/>
                </a:solidFill>
              </a:defRPr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7769D9C9-E3F7-6719-75F2-AA70DF83E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43579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uto del 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igura a mano libera 19">
            <a:extLst>
              <a:ext uri="{FF2B5EF4-FFF2-40B4-BE49-F238E27FC236}">
                <a16:creationId xmlns:a16="http://schemas.microsoft.com/office/drawing/2014/main" id="{37D82C4C-B372-8DAD-C78B-5A7079992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9" name="Titolo 8">
            <a:extLst>
              <a:ext uri="{FF2B5EF4-FFF2-40B4-BE49-F238E27FC236}">
                <a16:creationId xmlns:a16="http://schemas.microsoft.com/office/drawing/2014/main" id="{CE543C86-04BB-A7E0-26E4-1A793E98C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052" y="345441"/>
            <a:ext cx="10202248" cy="1766918"/>
          </a:xfrm>
        </p:spPr>
        <p:txBody>
          <a:bodyPr rtlCol="0">
            <a:normAutofit/>
          </a:bodyPr>
          <a:lstStyle>
            <a:lvl1pPr>
              <a:defRPr lang="it-IT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0" name="Segnaposto contenuto 20">
            <a:extLst>
              <a:ext uri="{FF2B5EF4-FFF2-40B4-BE49-F238E27FC236}">
                <a16:creationId xmlns:a16="http://schemas.microsoft.com/office/drawing/2014/main" id="{D1D15020-88F7-93D5-282B-0C23CB75788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71205" y="2282826"/>
            <a:ext cx="3180475" cy="365125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800" b="1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600" b="1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400" b="1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 b="1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 b="1"/>
            </a:lvl5pPr>
          </a:lstStyle>
          <a:p>
            <a:pPr lvl="0" rtl="0"/>
            <a:r>
              <a:rPr lang="it-IT"/>
              <a:t>Fai clic per aggiungere contenuti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2" name="Segnaposto tabella 11">
            <a:extLst>
              <a:ext uri="{FF2B5EF4-FFF2-40B4-BE49-F238E27FC236}">
                <a16:creationId xmlns:a16="http://schemas.microsoft.com/office/drawing/2014/main" id="{675AC522-525C-4C6F-8F28-3B2FC909B3F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940300" y="2282825"/>
            <a:ext cx="5880100" cy="3651250"/>
          </a:xfrm>
        </p:spPr>
        <p:txBody>
          <a:bodyPr rtlCol="0"/>
          <a:lstStyle>
            <a:lvl1pPr marL="0" indent="0">
              <a:buNone/>
              <a:defRPr lang="it-IT"/>
            </a:lvl1pPr>
          </a:lstStyle>
          <a:p>
            <a:pPr rtl="0"/>
            <a:r>
              <a:rPr lang="it-IT"/>
              <a:t>Fare clic sull'icona per inserire una tabella</a:t>
            </a:r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B00D9D4E-52D5-4BAF-8096-D301073D3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45805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e 2 colon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a a mano libera 36">
            <a:extLst>
              <a:ext uri="{FF2B5EF4-FFF2-40B4-BE49-F238E27FC236}">
                <a16:creationId xmlns:a16="http://schemas.microsoft.com/office/drawing/2014/main" id="{F8F589DA-127F-E2E7-6ADA-1D3C04799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5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700FBF0-749D-0FF0-74B6-3565174C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9" name="Figura a mano libera 10">
            <a:extLst>
              <a:ext uri="{FF2B5EF4-FFF2-40B4-BE49-F238E27FC236}">
                <a16:creationId xmlns:a16="http://schemas.microsoft.com/office/drawing/2014/main" id="{0DDA3FAB-74FF-4772-2BA4-B242E12AB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2" name="Titolo 11">
            <a:extLst>
              <a:ext uri="{FF2B5EF4-FFF2-40B4-BE49-F238E27FC236}">
                <a16:creationId xmlns:a16="http://schemas.microsoft.com/office/drawing/2014/main" id="{FBE95B3E-84B8-3910-65C9-87914802B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369277"/>
            <a:ext cx="9590215" cy="1708514"/>
          </a:xfrm>
        </p:spPr>
        <p:txBody>
          <a:bodyPr rtlCol="0">
            <a:normAutofit/>
          </a:bodyPr>
          <a:lstStyle>
            <a:lvl1pPr>
              <a:defRPr lang="it-IT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4" name="Segnaposto contenuto 20">
            <a:extLst>
              <a:ext uri="{FF2B5EF4-FFF2-40B4-BE49-F238E27FC236}">
                <a16:creationId xmlns:a16="http://schemas.microsoft.com/office/drawing/2014/main" id="{53421E6F-1A11-40B7-DB53-FC96CE9D787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69269" y="2284193"/>
            <a:ext cx="6036544" cy="3436653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/>
            </a:lvl5pPr>
          </a:lstStyle>
          <a:p>
            <a:pPr lvl="0" rtl="0"/>
            <a:r>
              <a:rPr lang="it-IT"/>
              <a:t>Fai clic per aggiungere contenuti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3" name="Segnaposto contenuto 20">
            <a:extLst>
              <a:ext uri="{FF2B5EF4-FFF2-40B4-BE49-F238E27FC236}">
                <a16:creationId xmlns:a16="http://schemas.microsoft.com/office/drawing/2014/main" id="{90BA2746-C141-C524-CDDE-DD672A80A2C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708899" y="2284193"/>
            <a:ext cx="3252914" cy="3436653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800" b="1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600" b="1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400" b="1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 b="1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lang="it-IT" sz="1200" b="1"/>
            </a:lvl5pPr>
          </a:lstStyle>
          <a:p>
            <a:pPr lvl="0" rtl="0"/>
            <a:r>
              <a:rPr lang="it-IT"/>
              <a:t>Fai clic per aggiungere contenuti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1" name="Segnaposto numero diapositiva 5">
            <a:extLst>
              <a:ext uri="{FF2B5EF4-FFF2-40B4-BE49-F238E27FC236}">
                <a16:creationId xmlns:a16="http://schemas.microsoft.com/office/drawing/2014/main" id="{078CC75E-2849-6C28-42BF-61EBFD22C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75025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igura a mano libera 9">
            <a:extLst>
              <a:ext uri="{FF2B5EF4-FFF2-40B4-BE49-F238E27FC236}">
                <a16:creationId xmlns:a16="http://schemas.microsoft.com/office/drawing/2014/main" id="{BE9B1BD7-8F62-244D-062B-D0A716D1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8" name="Titolo 7">
            <a:extLst>
              <a:ext uri="{FF2B5EF4-FFF2-40B4-BE49-F238E27FC236}">
                <a16:creationId xmlns:a16="http://schemas.microsoft.com/office/drawing/2014/main" id="{54BAE39C-758E-B299-0906-86DA058BC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975" y="345440"/>
            <a:ext cx="9448803" cy="1743542"/>
          </a:xfrm>
        </p:spPr>
        <p:txBody>
          <a:bodyPr rtlCol="0">
            <a:normAutofit/>
          </a:bodyPr>
          <a:lstStyle>
            <a:lvl1pPr>
              <a:defRPr lang="it-IT"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10" name="Segnaposto tabella 9">
            <a:extLst>
              <a:ext uri="{FF2B5EF4-FFF2-40B4-BE49-F238E27FC236}">
                <a16:creationId xmlns:a16="http://schemas.microsoft.com/office/drawing/2014/main" id="{ED21C7D0-0E84-DFA8-FC77-93D7B17FA7E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365250" y="2295525"/>
            <a:ext cx="9448800" cy="3652838"/>
          </a:xfrm>
        </p:spPr>
        <p:txBody>
          <a:bodyPr rtlCol="0"/>
          <a:lstStyle>
            <a:lvl1pPr marL="0" indent="0">
              <a:buNone/>
              <a:defRPr lang="it-IT"/>
            </a:lvl1pPr>
          </a:lstStyle>
          <a:p>
            <a:pPr rtl="0"/>
            <a:r>
              <a:rPr lang="it-IT"/>
              <a:t>Fare clic sull'icona per inserire una tabella</a:t>
            </a:r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844F72DC-A10E-0921-2E94-08CAC9D50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chemeClr val="accent2">
                    <a:lumMod val="75000"/>
                  </a:schemeClr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25734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ura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>
            <a:extLst>
              <a:ext uri="{FF2B5EF4-FFF2-40B4-BE49-F238E27FC236}">
                <a16:creationId xmlns:a16="http://schemas.microsoft.com/office/drawing/2014/main" id="{B181407F-D7F6-56CB-135C-01868BC19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7" y="1088211"/>
            <a:ext cx="4602483" cy="4896019"/>
          </a:xfrm>
        </p:spPr>
        <p:txBody>
          <a:bodyPr rtlCol="0">
            <a:normAutofit/>
          </a:bodyPr>
          <a:lstStyle>
            <a:lvl1pPr>
              <a:defRPr lang="it-IT" sz="4800">
                <a:solidFill>
                  <a:schemeClr val="bg2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E517585-E867-BB06-B195-272DA0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8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92D9EBD-88FB-A2C3-7EC2-46DD7B53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5" name="Figura a mano libera 22">
            <a:extLst>
              <a:ext uri="{FF2B5EF4-FFF2-40B4-BE49-F238E27FC236}">
                <a16:creationId xmlns:a16="http://schemas.microsoft.com/office/drawing/2014/main" id="{CB417425-9078-B6E8-97F7-BAA1536BA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7" name="Figura a mano libera 4">
            <a:extLst>
              <a:ext uri="{FF2B5EF4-FFF2-40B4-BE49-F238E27FC236}">
                <a16:creationId xmlns:a16="http://schemas.microsoft.com/office/drawing/2014/main" id="{D7F56B38-71B8-A745-8D9C-BBEA278F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05999" y="4572027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45E5C644-63C0-D8A4-7EF1-1681AFB1F4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24599" y="1088210"/>
            <a:ext cx="4373564" cy="4894894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lang="it-IT" sz="1800" b="1">
                <a:solidFill>
                  <a:schemeClr val="bg2"/>
                </a:solidFill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lang="it-IT" sz="1600" b="1">
                <a:solidFill>
                  <a:schemeClr val="bg2"/>
                </a:solidFill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lang="it-IT" sz="1400" b="1">
                <a:solidFill>
                  <a:schemeClr val="bg2"/>
                </a:solidFill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lang="it-IT" sz="1200" b="1">
                <a:solidFill>
                  <a:schemeClr val="bg2"/>
                </a:solidFill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lang="it-IT" sz="1200" b="1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3546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igura a mano libera: Forma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39807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00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it-IT" sz="1000" dirty="0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2000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08AB70BE-1769-45B8-85A6-0C837432C7E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7763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69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it-IT"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lang="it-IT"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lang="it-IT"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lang="it-IT"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lang="it-IT"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lang="it-IT"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876" y="946180"/>
            <a:ext cx="10202248" cy="3848954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 dirty="0"/>
              <a:t>Portale Ateneo - Sistema di Gestione e Prenotazione Aule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08AB70BE-1769-45B8-85A6-0C837432C7E6}" type="slidenum">
              <a:rPr lang="it-IT" smtClean="0"/>
              <a:pPr/>
              <a:t>1</a:t>
            </a:fld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F8E4344-4F8B-7613-E2E6-3DC6769977D3}"/>
              </a:ext>
            </a:extLst>
          </p:cNvPr>
          <p:cNvSpPr txBox="1"/>
          <p:nvPr/>
        </p:nvSpPr>
        <p:spPr>
          <a:xfrm>
            <a:off x="2103120" y="3983212"/>
            <a:ext cx="841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+mj-lt"/>
              </a:rPr>
              <a:t>Progetto di Ingegneria del Software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07D30C0-B56C-6F2D-5059-3D50C689F155}"/>
              </a:ext>
            </a:extLst>
          </p:cNvPr>
          <p:cNvSpPr txBox="1"/>
          <p:nvPr/>
        </p:nvSpPr>
        <p:spPr>
          <a:xfrm>
            <a:off x="2103120" y="4425802"/>
            <a:ext cx="451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+mj-lt"/>
              </a:rPr>
              <a:t>- Mattia Bui matricola 187475</a:t>
            </a:r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9504103-6319-C1BA-994F-97D3A9F1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478396"/>
            <a:ext cx="3710355" cy="3445297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 dirty="0"/>
              <a:t>Cosa fa l’app?</a:t>
            </a:r>
            <a:br>
              <a:rPr lang="it-IT" dirty="0"/>
            </a:br>
            <a:r>
              <a:rPr lang="it-IT" dirty="0"/>
              <a:t>Quali sono i 3 attori principali ?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7927D6-AFA7-348E-8C32-400C1E6F32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60466" y="1477963"/>
            <a:ext cx="5221718" cy="3446462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algn="ctr"/>
            <a:r>
              <a:rPr lang="it-IT" sz="2000" dirty="0">
                <a:latin typeface="+mj-lt"/>
              </a:rPr>
              <a:t>Sviluppo di una piattaforma web per digitalizzare la gestione degli spazi universitari</a:t>
            </a:r>
          </a:p>
          <a:p>
            <a:pPr algn="ctr"/>
            <a:r>
              <a:rPr lang="it-IT" sz="2000" dirty="0">
                <a:latin typeface="+mj-lt"/>
              </a:rPr>
              <a:t>I 3 attori principali sono Gestore, Docente e Studente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991DBFA3-4929-EF34-6EC0-62D2B6817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08AB70BE-1769-45B8-85A6-0C837432C7E6}" type="slidenum">
              <a:rPr lang="it-IT" smtClean="0"/>
              <a:pPr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9B282789-4F8B-D647-09EB-50D8FF68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8" y="310000"/>
            <a:ext cx="6858001" cy="3219584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Approccio molto rapido  per gestire il </a:t>
            </a:r>
            <a:r>
              <a:rPr lang="it-IT" dirty="0" err="1"/>
              <a:t>frontend</a:t>
            </a:r>
            <a:r>
              <a:rPr lang="it-IT" dirty="0"/>
              <a:t> e il </a:t>
            </a:r>
            <a:r>
              <a:rPr lang="it-IT" dirty="0" err="1"/>
              <a:t>backend</a:t>
            </a:r>
            <a:r>
              <a:rPr lang="it-IT" dirty="0"/>
              <a:t> con possibili implementazioni future più «professionali e complete»</a:t>
            </a:r>
          </a:p>
        </p:txBody>
      </p:sp>
      <p:pic>
        <p:nvPicPr>
          <p:cNvPr id="6" name="Segnaposto immagine 4" descr="Luci verdi nel cielo">
            <a:extLst>
              <a:ext uri="{FF2B5EF4-FFF2-40B4-BE49-F238E27FC236}">
                <a16:creationId xmlns:a16="http://schemas.microsoft.com/office/drawing/2014/main" id="{2EBC5878-1007-0F8E-3940-DE9D1D088B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995" r="28995"/>
          <a:stretch/>
        </p:blipFill>
        <p:spPr>
          <a:xfrm>
            <a:off x="7877908" y="1"/>
            <a:ext cx="4314092" cy="6858000"/>
          </a:xfr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58ECD88-7563-0E2D-38D6-262477CFE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08AB70BE-1769-45B8-85A6-0C837432C7E6}" type="slidenum">
              <a:rPr lang="it-IT" smtClean="0"/>
              <a:pPr/>
              <a:t>3</a:t>
            </a:fld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6B4D4C8-615B-7891-054E-2767E0369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38" y="3226619"/>
            <a:ext cx="5571032" cy="314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7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olo 14">
            <a:extLst>
              <a:ext uri="{FF2B5EF4-FFF2-40B4-BE49-F238E27FC236}">
                <a16:creationId xmlns:a16="http://schemas.microsoft.com/office/drawing/2014/main" id="{37F92FBB-F1A6-DCA3-4B03-5EA99AE4B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6415" y="360485"/>
            <a:ext cx="5988843" cy="3284203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Architettura del sistema</a:t>
            </a:r>
            <a:br>
              <a:rPr lang="it-IT" dirty="0"/>
            </a:br>
            <a:endParaRPr lang="it-IT" dirty="0"/>
          </a:p>
        </p:txBody>
      </p:sp>
      <p:pic>
        <p:nvPicPr>
          <p:cNvPr id="24" name="Segnaposto immagine 23" descr="Luci verdi nel cielo">
            <a:extLst>
              <a:ext uri="{FF2B5EF4-FFF2-40B4-BE49-F238E27FC236}">
                <a16:creationId xmlns:a16="http://schemas.microsoft.com/office/drawing/2014/main" id="{61357E36-869D-B6D4-3E6E-ED43A227E59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7" b="37"/>
          <a:stretch/>
        </p:blipFill>
        <p:spPr>
          <a:xfrm>
            <a:off x="0" y="0"/>
            <a:ext cx="4308475" cy="6858000"/>
          </a:xfrm>
        </p:spPr>
      </p:pic>
      <p:sp>
        <p:nvSpPr>
          <p:cNvPr id="16" name="Segnaposto contenuto 15">
            <a:extLst>
              <a:ext uri="{FF2B5EF4-FFF2-40B4-BE49-F238E27FC236}">
                <a16:creationId xmlns:a16="http://schemas.microsoft.com/office/drawing/2014/main" id="{43E47AC3-3E43-6A30-A709-127578992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76306" y="3846391"/>
            <a:ext cx="5695989" cy="2136710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Utilizzo di una architettura </a:t>
            </a:r>
            <a:r>
              <a:rPr lang="it-IT" dirty="0" err="1"/>
              <a:t>client-server</a:t>
            </a:r>
            <a:endParaRPr lang="it-IT" dirty="0"/>
          </a:p>
          <a:p>
            <a:pPr marL="285750" indent="-285750" rtl="0">
              <a:buFontTx/>
              <a:buChar char="-"/>
            </a:pPr>
            <a:r>
              <a:rPr lang="it-IT" dirty="0" err="1"/>
              <a:t>Frontend</a:t>
            </a:r>
            <a:r>
              <a:rPr lang="it-IT" dirty="0"/>
              <a:t>: </a:t>
            </a:r>
            <a:r>
              <a:rPr lang="it-IT" dirty="0" err="1"/>
              <a:t>Angular</a:t>
            </a:r>
            <a:r>
              <a:rPr lang="it-IT" dirty="0"/>
              <a:t> (Porta 4200)</a:t>
            </a:r>
          </a:p>
          <a:p>
            <a:pPr marL="285750" indent="-285750" rtl="0">
              <a:buFontTx/>
              <a:buChar char="-"/>
            </a:pPr>
            <a:r>
              <a:rPr lang="it-IT" dirty="0" err="1"/>
              <a:t>Backend</a:t>
            </a:r>
            <a:r>
              <a:rPr lang="it-IT" dirty="0"/>
              <a:t>: Java Spring Boot (Porta 8081)</a:t>
            </a:r>
          </a:p>
          <a:p>
            <a:pPr marL="285750" indent="-285750" rtl="0">
              <a:buFontTx/>
              <a:buChar char="-"/>
            </a:pPr>
            <a:r>
              <a:rPr lang="it-IT" dirty="0"/>
              <a:t>Database: MySQL (Porta 3306)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06BE44FC-E43E-3153-168E-0A84BD9E6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08AB70BE-1769-45B8-85A6-0C837432C7E6}" type="slidenum">
              <a:rPr lang="it-IT" smtClean="0"/>
              <a:pPr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0171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60027CB-3C27-FC4C-AEF9-685A21EA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4841"/>
            <a:ext cx="9525000" cy="1919521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Modello dati</a:t>
            </a:r>
          </a:p>
        </p:txBody>
      </p:sp>
      <p:pic>
        <p:nvPicPr>
          <p:cNvPr id="16" name="Segnaposto contenuto 15">
            <a:extLst>
              <a:ext uri="{FF2B5EF4-FFF2-40B4-BE49-F238E27FC236}">
                <a16:creationId xmlns:a16="http://schemas.microsoft.com/office/drawing/2014/main" id="{CFF4D706-0942-34C3-DCBC-DC78A4528F3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589838" y="2380513"/>
            <a:ext cx="3429479" cy="2838846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616BFA23-AB5B-BA88-E233-DE14DED5A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08AB70BE-1769-45B8-85A6-0C837432C7E6}" type="slidenum">
              <a:rPr lang="it-IT" smtClean="0"/>
              <a:pPr/>
              <a:t>5</a:t>
            </a:fld>
            <a:endParaRPr lang="it-IT" dirty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80A710C2-F283-37CE-DA71-54797A1C6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5" y="1475512"/>
            <a:ext cx="4429743" cy="1810003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5BE350DF-A5A1-EE03-E3E0-B88ABEB94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925" y="4074878"/>
            <a:ext cx="4305901" cy="1810003"/>
          </a:xfrm>
          <a:prstGeom prst="rect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B9B79564-4E7B-2A35-EFD5-2D0E0C27178D}"/>
              </a:ext>
            </a:extLst>
          </p:cNvPr>
          <p:cNvSpPr txBox="1"/>
          <p:nvPr/>
        </p:nvSpPr>
        <p:spPr>
          <a:xfrm>
            <a:off x="908610" y="2380513"/>
            <a:ext cx="136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Aule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354D484-75F1-1B7B-D78E-380CFE6010F3}"/>
              </a:ext>
            </a:extLst>
          </p:cNvPr>
          <p:cNvSpPr txBox="1"/>
          <p:nvPr/>
        </p:nvSpPr>
        <p:spPr>
          <a:xfrm>
            <a:off x="5388039" y="4074878"/>
            <a:ext cx="1150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Studenti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772EA90-C388-8831-FBD5-6919AE81BFFC}"/>
              </a:ext>
            </a:extLst>
          </p:cNvPr>
          <p:cNvSpPr txBox="1"/>
          <p:nvPr/>
        </p:nvSpPr>
        <p:spPr>
          <a:xfrm>
            <a:off x="5388040" y="1475512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Docenti</a:t>
            </a:r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68C2EC19-A157-8389-07DB-65065908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734" y="835269"/>
            <a:ext cx="8690533" cy="1542171"/>
          </a:xfrm>
        </p:spPr>
        <p:txBody>
          <a:bodyPr rtlCol="0"/>
          <a:lstStyle>
            <a:defPPr>
              <a:defRPr lang="it-IT"/>
            </a:defPPr>
          </a:lstStyle>
          <a:p>
            <a:pPr algn="just"/>
            <a:r>
              <a:rPr lang="it-IT" dirty="0"/>
              <a:t>Architettura </a:t>
            </a:r>
            <a:r>
              <a:rPr lang="it-IT" dirty="0" err="1"/>
              <a:t>Backend</a:t>
            </a:r>
            <a:r>
              <a:rPr lang="it-IT" dirty="0"/>
              <a:t>: Java Spring Boot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17DE2532-F4A7-30E2-0525-1FF82D28A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08AB70BE-1769-45B8-85A6-0C837432C7E6}" type="slidenum">
              <a:rPr lang="it-IT" smtClean="0"/>
              <a:pPr/>
              <a:t>6</a:t>
            </a:fld>
            <a:endParaRPr lang="it-IT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FAB405C-5F69-338D-A277-7C2CF29673D0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514602" y="2854494"/>
            <a:ext cx="9162796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Architettura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RESTful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: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Sviluppo di API REST per la comunicazione standardizzata tra client e server.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Gestione dei Dati (ORM):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Utilizzo di 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JPA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(Java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Persistence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API) e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Hibernate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Astrazione del Database: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Mappatura automatica delle classi Java (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Entity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) sulle tabelle MySQL, eliminando la necessità di scrivere query SQL manuali e prevenendo vulnerabilità come le SQL Injection.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Separazione delle logiche: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Struttura divisa in Controller (gestione richieste), Service (logica di business) e Repository (accesso ai dati).</a:t>
            </a:r>
          </a:p>
        </p:txBody>
      </p:sp>
    </p:spTree>
    <p:extLst>
      <p:ext uri="{BB962C8B-B14F-4D97-AF65-F5344CB8AC3E}">
        <p14:creationId xmlns:p14="http://schemas.microsoft.com/office/powerpoint/2010/main" val="2470345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4F465791-02C3-85CB-EC2D-AE1D097AD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805" y="344399"/>
            <a:ext cx="9599008" cy="1729547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 dirty="0"/>
              <a:t>Architettura </a:t>
            </a:r>
            <a:r>
              <a:rPr lang="it-IT" dirty="0" err="1"/>
              <a:t>Frontend</a:t>
            </a:r>
            <a:r>
              <a:rPr lang="it-IT" dirty="0"/>
              <a:t>: Interfaccia Dinamica con </a:t>
            </a:r>
            <a:r>
              <a:rPr lang="it-IT" dirty="0" err="1"/>
              <a:t>Angular</a:t>
            </a: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07CC286-7253-B31F-DFE6-802920A9FC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0867" y="2274034"/>
            <a:ext cx="4310842" cy="329863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noProof="1"/>
              <a:t>​Single Page Application (SPA): Interfaccia moderna e fluida che non richiede il ricaricamento della pagina web durante la navigazione.</a:t>
            </a:r>
          </a:p>
          <a:p>
            <a:pPr rtl="0"/>
            <a:r>
              <a:rPr lang="it-IT" noProof="1"/>
              <a:t>Integrazione Backend: Utilizzo degli Angular Services e del modulo HttpClient per consumare le API REST di Spring Boot in modo asincrono.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6D75BC5-46CC-A36D-B72E-AE0A832FACB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18375" y="2274034"/>
            <a:ext cx="4414728" cy="329863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noProof="1"/>
              <a:t>UI Dinamica e Ruoli: Gestione dell'interfaccia utente tramite direttive strutturali.</a:t>
            </a:r>
          </a:p>
          <a:p>
            <a:pPr rtl="0"/>
            <a:r>
              <a:rPr lang="it-IT" noProof="1"/>
              <a:t>Rendering Condizionale: Utilizzo intensivo della direttiva *ngIf per mostrare o nascondere moduli, tabelle e bottoni in base al ruolo dell'utente loggato (Gestore, Docente, Studente).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DFEF2AD9-EC94-1F3D-3B79-64938E47A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08AB70BE-1769-45B8-85A6-0C837432C7E6}" type="slidenum">
              <a:rPr lang="it-IT" smtClean="0"/>
              <a:pPr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2186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B1945D54-A284-835B-B949-4F6D36F38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757" y="328860"/>
            <a:ext cx="6136643" cy="1777060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r>
              <a:rPr lang="it-IT" dirty="0"/>
              <a:t>Interfaccia Utente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A3E74988-E25D-C00E-6692-E835D8DE1E6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rcRect l="3172" r="18153"/>
          <a:stretch>
            <a:fillRect/>
          </a:stretch>
        </p:blipFill>
        <p:spPr>
          <a:xfrm>
            <a:off x="1371204" y="2282999"/>
            <a:ext cx="6136643" cy="3685507"/>
          </a:xfrm>
          <a:prstGeom prst="rect">
            <a:avLst/>
          </a:prstGeom>
          <a:noFill/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2364658B-155F-2C21-A77E-B1FCE48DCB9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3046" r="57087" b="1"/>
          <a:stretch>
            <a:fillRect/>
          </a:stretch>
        </p:blipFill>
        <p:spPr>
          <a:xfrm>
            <a:off x="7924800" y="10"/>
            <a:ext cx="4267200" cy="6857990"/>
          </a:xfrm>
          <a:prstGeom prst="rect">
            <a:avLst/>
          </a:prstGeom>
          <a:noFill/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71E04509-99F0-B7A3-5C7A-C5A635046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>
              <a:spcAft>
                <a:spcPts val="600"/>
              </a:spcAft>
            </a:pPr>
            <a:fld id="{08AB70BE-1769-45B8-85A6-0C837432C7E6}" type="slidenum">
              <a:rPr lang="it-IT" smtClean="0"/>
              <a:pPr rtl="0">
                <a:spcAft>
                  <a:spcPts val="600"/>
                </a:spcAft>
              </a:pPr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4249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>
            <a:extLst>
              <a:ext uri="{FF2B5EF4-FFF2-40B4-BE49-F238E27FC236}">
                <a16:creationId xmlns:a16="http://schemas.microsoft.com/office/drawing/2014/main" id="{F3AAEC5E-1903-897F-3899-D104894E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757" y="328860"/>
            <a:ext cx="6136643" cy="1777060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 dirty="0"/>
              <a:t>Sfide e Soluzioni</a:t>
            </a:r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5E171ED2-DFD4-666E-F6D1-C672E5CE86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205" y="2283000"/>
            <a:ext cx="5633099" cy="2469082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sz="2000" dirty="0"/>
              <a:t>Una delle sfide più «impegnative» è stata la gestione dei posti: far scalare il numero di posti disponibili in tempo reale quando uno studente prenota e rendere questo valore scalato visibile a tutti gli altri studenti e scalabile per tutti. </a:t>
            </a:r>
          </a:p>
        </p:txBody>
      </p:sp>
      <p:pic>
        <p:nvPicPr>
          <p:cNvPr id="18" name="Segnaposto immagine 17" descr="Una montagna con la neve e stelle nel cielo">
            <a:extLst>
              <a:ext uri="{FF2B5EF4-FFF2-40B4-BE49-F238E27FC236}">
                <a16:creationId xmlns:a16="http://schemas.microsoft.com/office/drawing/2014/main" id="{191982FA-A9CA-9ACC-09E4-77FD999BDBF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03" b="103"/>
          <a:stretch/>
        </p:blipFill>
        <p:spPr>
          <a:xfrm>
            <a:off x="7924800" y="0"/>
            <a:ext cx="4267200" cy="6858000"/>
          </a:xfrm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F270016-E0B6-DAC7-B6DA-CC7F3A15D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08AB70BE-1769-45B8-85A6-0C837432C7E6}" type="slidenum">
              <a:rPr lang="it-IT" smtClean="0"/>
              <a:pPr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8113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6C71D8FC-E122-CABE-6FCE-615B2C34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1088211"/>
            <a:ext cx="4602483" cy="4896019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 b="1" dirty="0"/>
              <a:t>Sviluppi Futuri e Conclusioni</a:t>
            </a:r>
            <a:endParaRPr lang="it-IT" dirty="0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581F7719-973C-41CB-9EA9-DC7CEC76A0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24598" y="1088209"/>
            <a:ext cx="5059681" cy="4896019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In futuro si potrebbe implementare un invio di email per comunicare una prenotazione/cancellazione di aula da parte del docente e un email di avvenuta prenotazione cancellazione del posto in aula da parte dello studente</a:t>
            </a:r>
          </a:p>
        </p:txBody>
      </p:sp>
    </p:spTree>
    <p:extLst>
      <p:ext uri="{BB962C8B-B14F-4D97-AF65-F5344CB8AC3E}">
        <p14:creationId xmlns:p14="http://schemas.microsoft.com/office/powerpoint/2010/main" val="228080609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5058_TF89118109_Win32" id="{56574892-05D1-4F84-A867-8DE038DD793C}" vid="{6E82D433-4C15-45AF-B3ED-C2A9C6DC207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Schema Sovrapposizione modulo</Template>
  <TotalTime>75</TotalTime>
  <Words>410</Words>
  <Application>Microsoft Office PowerPoint</Application>
  <PresentationFormat>Widescreen</PresentationFormat>
  <Paragraphs>53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Arial</vt:lpstr>
      <vt:lpstr>Arial Nova Light</vt:lpstr>
      <vt:lpstr>Calibri</vt:lpstr>
      <vt:lpstr>Elephant</vt:lpstr>
      <vt:lpstr>Personalizzata</vt:lpstr>
      <vt:lpstr>Portale Ateneo - Sistema di Gestione e Prenotazione Aule</vt:lpstr>
      <vt:lpstr>Cosa fa l’app? Quali sono i 3 attori principali ?</vt:lpstr>
      <vt:lpstr>Approccio molto rapido  per gestire il frontend e il backend con possibili implementazioni future più «professionali e complete»</vt:lpstr>
      <vt:lpstr>Architettura del sistema </vt:lpstr>
      <vt:lpstr>Modello dati</vt:lpstr>
      <vt:lpstr>Architettura Backend: Java Spring Boot</vt:lpstr>
      <vt:lpstr>Architettura Frontend: Interfaccia Dinamica con Angular</vt:lpstr>
      <vt:lpstr>Interfaccia Utente</vt:lpstr>
      <vt:lpstr>Sfide e Soluzioni</vt:lpstr>
      <vt:lpstr>Sviluppi Futuri e 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 Bui</dc:creator>
  <cp:lastModifiedBy>Mattia Bui</cp:lastModifiedBy>
  <cp:revision>1</cp:revision>
  <dcterms:created xsi:type="dcterms:W3CDTF">2026-05-04T08:47:50Z</dcterms:created>
  <dcterms:modified xsi:type="dcterms:W3CDTF">2026-05-04T10:03:28Z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